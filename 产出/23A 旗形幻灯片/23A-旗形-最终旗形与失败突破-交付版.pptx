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7"/>
          </a:solidFill>
          <a:ln w="1270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阿布价格行为学 / 视频要点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38560" y="914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阿布课程语音转文字 / 23A 旗形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6583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23A 旗形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7178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最终旗形不是延续的例外，而是趋势后期的警报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" y="1664208"/>
            <a:ext cx="649224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22" dirty="0">
                <a:solidFill>
                  <a:srgbClr val="5A6670"/>
                </a:solidFill>
              </a:rPr>
              <a:t>核心结论：真正值得交易者警惕的，不是旗形本身，而是旗形在趋势末端如何变成交易区间、如何让突破失败、以及如何把顺势交易切换成反转准备。</a:t>
            </a:r>
            <a:endParaRPr lang="en-US" sz="1422" dirty="0"/>
          </a:p>
        </p:txBody>
      </p:sp>
      <p:sp>
        <p:nvSpPr>
          <p:cNvPr id="10" name="Shape 8"/>
          <p:cNvSpPr/>
          <p:nvPr/>
        </p:nvSpPr>
        <p:spPr>
          <a:xfrm>
            <a:off x="676656" y="2651760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697480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趋势后期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920240" y="265176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2F7A78"/>
          </a:solidFill>
          <a:ln w="12700">
            <a:solidFill>
              <a:srgbClr val="2F7A7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2697480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交易区间化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0" y="265176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A63D40"/>
          </a:solidFill>
          <a:ln w="12700">
            <a:solidFill>
              <a:srgbClr val="A63D4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2697480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突破失败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3154680"/>
            <a:ext cx="3566160" cy="2267712"/>
          </a:xfrm>
          <a:prstGeom prst="roundRect">
            <a:avLst>
              <a:gd name="adj" fmla="val 2419"/>
            </a:avLst>
          </a:prstGeom>
          <a:solidFill>
            <a:srgbClr val="FFF9F1"/>
          </a:solidFill>
          <a:ln w="15240">
            <a:solidFill>
              <a:srgbClr val="E7DC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282696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这节课要回答的 3 个问题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3575304"/>
            <a:ext cx="3273552" cy="17007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596" dirty="0">
                <a:solidFill>
                  <a:srgbClr val="1F2B33"/>
                </a:solidFill>
              </a:rPr>
              <a:t>1. 什么叫“最终旗形”？</a:t>
            </a:r>
            <a:endParaRPr lang="en-US" sz="1596" dirty="0"/>
          </a:p>
          <a:p>
            <a:pPr indent="0" marL="0">
              <a:buNone/>
            </a:pPr>
            <a:r>
              <a:rPr lang="en-US" sz="1596" dirty="0">
                <a:solidFill>
                  <a:srgbClr val="1F2B33"/>
                </a:solidFill>
              </a:rPr>
              <a:t>2. 多头与空头的末端迹象分别是什么？</a:t>
            </a:r>
            <a:endParaRPr lang="en-US" sz="1596" dirty="0"/>
          </a:p>
          <a:p>
            <a:pPr indent="0" marL="0">
              <a:buNone/>
            </a:pPr>
            <a:r>
              <a:rPr lang="en-US" sz="1596" dirty="0">
                <a:solidFill>
                  <a:srgbClr val="1F2B33"/>
                </a:solidFill>
              </a:rPr>
              <a:t>3. 当突破失败时，交易者应该如何调整节奏？</a:t>
            </a:r>
            <a:endParaRPr lang="en-US" sz="1596" dirty="0"/>
          </a:p>
        </p:txBody>
      </p:sp>
      <p:sp>
        <p:nvSpPr>
          <p:cNvPr id="19" name="Shape 17"/>
          <p:cNvSpPr/>
          <p:nvPr/>
        </p:nvSpPr>
        <p:spPr>
          <a:xfrm>
            <a:off x="4498848" y="3154680"/>
            <a:ext cx="3429000" cy="2267712"/>
          </a:xfrm>
          <a:prstGeom prst="roundRect">
            <a:avLst>
              <a:gd name="adj" fmla="val 2419"/>
            </a:avLst>
          </a:prstGeom>
          <a:solidFill>
            <a:srgbClr val="E7EEE7"/>
          </a:solidFill>
          <a:ln w="15240">
            <a:solidFill>
              <a:srgbClr val="5E8B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3282696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一句话框架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45152" y="3575304"/>
            <a:ext cx="3136392" cy="17007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596" dirty="0">
                <a:solidFill>
                  <a:srgbClr val="1F2B33"/>
                </a:solidFill>
              </a:rPr>
              <a:t>普通旗形意味着“回调后大概率延续”；最终旗形意味着“回调已经长成共识区，后续突破更像末端冲刺，失败后容易回到区间并转向”。</a:t>
            </a:r>
            <a:endParaRPr lang="en-US" sz="1596" dirty="0"/>
          </a:p>
        </p:txBody>
      </p:sp>
      <p:sp>
        <p:nvSpPr>
          <p:cNvPr id="22" name="Shape 20"/>
          <p:cNvSpPr/>
          <p:nvPr/>
        </p:nvSpPr>
        <p:spPr>
          <a:xfrm>
            <a:off x="8183880" y="841248"/>
            <a:ext cx="3310128" cy="4590288"/>
          </a:xfrm>
          <a:prstGeom prst="roundRect">
            <a:avLst>
              <a:gd name="adj" fmla="val 1657"/>
            </a:avLst>
          </a:prstGeom>
          <a:solidFill>
            <a:srgbClr val="202D36"/>
          </a:solidFill>
          <a:ln w="15240">
            <a:solidFill>
              <a:srgbClr val="202D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30184" y="96926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观察顺序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30184" y="1261872"/>
            <a:ext cx="3017520" cy="4023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596" dirty="0">
                <a:solidFill>
                  <a:srgbClr val="EEF2F4"/>
                </a:solidFill>
              </a:rPr>
              <a:t>先看趋势是否已经走了很久，再看旗形是否由回调变成交易区间，最后才评估突破是继续还是失败。</a:t>
            </a:r>
            <a:endParaRPr lang="en-US" sz="1596" dirty="0"/>
          </a:p>
          <a:p>
            <a:pPr indent="0" marL="0">
              <a:buNone/>
            </a:pPr>
            <a:endParaRPr lang="en-US" sz="1596" dirty="0"/>
          </a:p>
          <a:p>
            <a:pPr indent="0" marL="0">
              <a:buNone/>
            </a:pPr>
            <a:r>
              <a:rPr lang="en-US" sz="1596" dirty="0">
                <a:solidFill>
                  <a:srgbClr val="EEF2F4"/>
                </a:solidFill>
              </a:rPr>
              <a:t>顺序错了，就会把末端冲刺误判成新的起涨或起跌。</a:t>
            </a:r>
            <a:endParaRPr lang="en-US" sz="159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7"/>
          </a:solidFill>
          <a:ln w="1270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2F7A78"/>
          </a:solidFill>
          <a:ln w="12700">
            <a:solidFill>
              <a:srgbClr val="2F7A7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概念框架 / 普通旗形 vs 最终旗形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38560" y="914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阿布课程语音转文字 / 23A 旗形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6583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概念框架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从普通旗形到最终旗形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58368" y="1664208"/>
            <a:ext cx="694944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93" dirty="0">
                <a:solidFill>
                  <a:srgbClr val="5A6670"/>
                </a:solidFill>
              </a:rPr>
              <a:t>一旦旗形长成交易区间，市场就不再只是在“回调”，而是在讨论新的公平价格。</a:t>
            </a:r>
            <a:endParaRPr lang="en-US" sz="1493" dirty="0"/>
          </a:p>
        </p:txBody>
      </p:sp>
      <p:sp>
        <p:nvSpPr>
          <p:cNvPr id="10" name="Shape 8"/>
          <p:cNvSpPr/>
          <p:nvPr/>
        </p:nvSpPr>
        <p:spPr>
          <a:xfrm>
            <a:off x="713232" y="2468880"/>
            <a:ext cx="3246120" cy="3611880"/>
          </a:xfrm>
          <a:prstGeom prst="roundRect">
            <a:avLst>
              <a:gd name="adj" fmla="val 1690"/>
            </a:avLst>
          </a:prstGeom>
          <a:solidFill>
            <a:srgbClr val="FFF9F1"/>
          </a:solidFill>
          <a:ln w="15240">
            <a:solidFill>
              <a:srgbClr val="E7DC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596896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普通旗形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9536" y="2889504"/>
            <a:ext cx="2953512" cy="3044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497" dirty="0">
                <a:solidFill>
                  <a:srgbClr val="1F2B33"/>
                </a:solidFill>
              </a:rPr>
              <a:t>位置：趋势中段</a:t>
            </a:r>
            <a:endParaRPr lang="en-US" sz="1497" dirty="0"/>
          </a:p>
          <a:p>
            <a:pPr indent="0" marL="0">
              <a:buNone/>
            </a:pPr>
            <a:r>
              <a:rPr lang="en-US" sz="1497" dirty="0">
                <a:solidFill>
                  <a:srgbClr val="1F2B33"/>
                </a:solidFill>
              </a:rPr>
              <a:t>语义：顺势回调</a:t>
            </a:r>
            <a:endParaRPr lang="en-US" sz="1497" dirty="0"/>
          </a:p>
          <a:p>
            <a:pPr indent="0" marL="0">
              <a:buNone/>
            </a:pPr>
            <a:r>
              <a:rPr lang="en-US" sz="1497" dirty="0">
                <a:solidFill>
                  <a:srgbClr val="1F2B33"/>
                </a:solidFill>
              </a:rPr>
              <a:t>交易者默认：突破后继续</a:t>
            </a:r>
            <a:endParaRPr lang="en-US" sz="1497" dirty="0"/>
          </a:p>
          <a:p>
            <a:pPr indent="0" marL="0">
              <a:buNone/>
            </a:pPr>
            <a:r>
              <a:rPr lang="en-US" sz="1497" dirty="0">
                <a:solidFill>
                  <a:srgbClr val="1F2B33"/>
                </a:solidFill>
              </a:rPr>
              <a:t>常见外观：小三角形、双顶/双底旗形、I-I-I</a:t>
            </a:r>
            <a:endParaRPr lang="en-US" sz="1497" dirty="0"/>
          </a:p>
          <a:p>
            <a:pPr indent="0" marL="0">
              <a:buNone/>
            </a:pPr>
            <a:r>
              <a:rPr lang="en-US" sz="1497" dirty="0">
                <a:solidFill>
                  <a:srgbClr val="1F2B33"/>
                </a:solidFill>
              </a:rPr>
              <a:t>重点：看延续，而不是先看反转</a:t>
            </a:r>
            <a:endParaRPr lang="en-US" sz="1497" dirty="0"/>
          </a:p>
        </p:txBody>
      </p:sp>
      <p:sp>
        <p:nvSpPr>
          <p:cNvPr id="13" name="Shape 11"/>
          <p:cNvSpPr/>
          <p:nvPr/>
        </p:nvSpPr>
        <p:spPr>
          <a:xfrm>
            <a:off x="4160520" y="2468880"/>
            <a:ext cx="3246120" cy="3611880"/>
          </a:xfrm>
          <a:prstGeom prst="roundRect">
            <a:avLst>
              <a:gd name="adj" fmla="val 1690"/>
            </a:avLst>
          </a:prstGeom>
          <a:solidFill>
            <a:srgbClr val="F4E7E2"/>
          </a:solidFill>
          <a:ln w="15240">
            <a:solidFill>
              <a:srgbClr val="D98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06824" y="2596896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最终旗形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06824" y="2889504"/>
            <a:ext cx="2953512" cy="3044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497" dirty="0">
                <a:solidFill>
                  <a:srgbClr val="1F2B33"/>
                </a:solidFill>
              </a:rPr>
              <a:t>位置：趋势后期</a:t>
            </a:r>
            <a:endParaRPr lang="en-US" sz="1497" dirty="0"/>
          </a:p>
          <a:p>
            <a:pPr indent="0" marL="0">
              <a:buNone/>
            </a:pPr>
            <a:r>
              <a:rPr lang="en-US" sz="1497" dirty="0">
                <a:solidFill>
                  <a:srgbClr val="1F2B33"/>
                </a:solidFill>
              </a:rPr>
              <a:t>语义：最后一个旗形 / 最后的交易区间</a:t>
            </a:r>
            <a:endParaRPr lang="en-US" sz="1497" dirty="0"/>
          </a:p>
          <a:p>
            <a:pPr indent="0" marL="0">
              <a:buNone/>
            </a:pPr>
            <a:r>
              <a:rPr lang="en-US" sz="1497" dirty="0">
                <a:solidFill>
                  <a:srgbClr val="1F2B33"/>
                </a:solidFill>
              </a:rPr>
              <a:t>交易者默认：突破不一定可靠，失败后更要重视反转</a:t>
            </a:r>
            <a:endParaRPr lang="en-US" sz="1497" dirty="0"/>
          </a:p>
          <a:p>
            <a:pPr indent="0" marL="0">
              <a:buNone/>
            </a:pPr>
            <a:r>
              <a:rPr lang="en-US" sz="1497" dirty="0">
                <a:solidFill>
                  <a:srgbClr val="1F2B33"/>
                </a:solidFill>
              </a:rPr>
              <a:t>常见外观：水平区间、收缩三角形、楔形、双顶更低高点 / 双底更高低点</a:t>
            </a:r>
            <a:endParaRPr lang="en-US" sz="1497" dirty="0"/>
          </a:p>
        </p:txBody>
      </p:sp>
      <p:sp>
        <p:nvSpPr>
          <p:cNvPr id="16" name="Shape 14"/>
          <p:cNvSpPr/>
          <p:nvPr/>
        </p:nvSpPr>
        <p:spPr>
          <a:xfrm>
            <a:off x="7772400" y="2468880"/>
            <a:ext cx="1005840" cy="2926080"/>
          </a:xfrm>
          <a:prstGeom prst="roundRect">
            <a:avLst>
              <a:gd name="adj" fmla="val 4545"/>
            </a:avLst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254203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63840" y="2743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63840" y="3072384"/>
            <a:ext cx="822960" cy="2176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95" dirty="0">
                <a:solidFill>
                  <a:srgbClr val="FFFFFF"/>
                </a:solidFill>
              </a:rPr>
              <a:t>先有一段已经走出动能的单边行情。</a:t>
            </a:r>
            <a:endParaRPr lang="en-US" sz="1295" dirty="0"/>
          </a:p>
        </p:txBody>
      </p:sp>
      <p:sp>
        <p:nvSpPr>
          <p:cNvPr id="20" name="Text 18"/>
          <p:cNvSpPr/>
          <p:nvPr/>
        </p:nvSpPr>
        <p:spPr>
          <a:xfrm>
            <a:off x="8869680" y="37033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189720" y="2468880"/>
            <a:ext cx="1005840" cy="2926080"/>
          </a:xfrm>
          <a:prstGeom prst="roundRect">
            <a:avLst>
              <a:gd name="adj" fmla="val 4545"/>
            </a:avLst>
          </a:prstGeom>
          <a:solidFill>
            <a:srgbClr val="2F7A78"/>
          </a:solidFill>
          <a:ln w="12700">
            <a:solidFill>
              <a:srgbClr val="2F7A7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254203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81160" y="2743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旗形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81160" y="3072384"/>
            <a:ext cx="822960" cy="2176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95" dirty="0">
                <a:solidFill>
                  <a:srgbClr val="FFFFFF"/>
                </a:solidFill>
              </a:rPr>
              <a:t>回调开始时仍像延续，但越走越像区间。</a:t>
            </a:r>
            <a:endParaRPr lang="en-US" sz="1295" dirty="0"/>
          </a:p>
        </p:txBody>
      </p:sp>
      <p:sp>
        <p:nvSpPr>
          <p:cNvPr id="25" name="Text 23"/>
          <p:cNvSpPr/>
          <p:nvPr/>
        </p:nvSpPr>
        <p:spPr>
          <a:xfrm>
            <a:off x="10287000" y="37033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0607040" y="2468880"/>
            <a:ext cx="1005840" cy="2926080"/>
          </a:xfrm>
          <a:prstGeom prst="roundRect">
            <a:avLst>
              <a:gd name="adj" fmla="val 4545"/>
            </a:avLst>
          </a:prstGeom>
          <a:solidFill>
            <a:srgbClr val="A63D40"/>
          </a:solidFill>
          <a:ln w="12700">
            <a:solidFill>
              <a:srgbClr val="A63D4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98480" y="254203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698480" y="27432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698480" y="3072384"/>
            <a:ext cx="822960" cy="2176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95" dirty="0">
                <a:solidFill>
                  <a:srgbClr val="FFFFFF"/>
                </a:solidFill>
              </a:rPr>
              <a:t>突破并不延续，价格重新回到共识区并转向。</a:t>
            </a:r>
            <a:endParaRPr lang="en-US" sz="129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7"/>
          </a:solidFill>
          <a:ln w="1270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多头末端 / 最终多头旗形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38560" y="914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阿布课程语音转文字 / 23A 旗形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6583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多头末端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最终多头旗形：向上突破不再天然值得追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58368" y="1664208"/>
            <a:ext cx="694944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23" dirty="0">
                <a:solidFill>
                  <a:srgbClr val="5A6670"/>
                </a:solidFill>
              </a:rPr>
              <a:t>文中的判断关键词不是“有旗形”，而是“已经走了很久、越来越横、离阻力越来越近”。</a:t>
            </a:r>
            <a:endParaRPr lang="en-US" sz="1423" dirty="0"/>
          </a:p>
        </p:txBody>
      </p:sp>
      <p:sp>
        <p:nvSpPr>
          <p:cNvPr id="10" name="Shape 8"/>
          <p:cNvSpPr/>
          <p:nvPr/>
        </p:nvSpPr>
        <p:spPr>
          <a:xfrm>
            <a:off x="713232" y="2487168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F8E7DF"/>
          </a:solidFill>
          <a:ln w="15240">
            <a:solidFill>
              <a:srgbClr val="D98B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615184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趋势已经很老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9536" y="2907792"/>
            <a:ext cx="2313432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455" dirty="0">
                <a:solidFill>
                  <a:srgbClr val="5A6670"/>
                </a:solidFill>
              </a:rPr>
              <a:t>多头趋势持续 20 根或更多 K 线，回调很少，买入高潮开始堆积。</a:t>
            </a:r>
            <a:endParaRPr lang="en-US" sz="1455" dirty="0"/>
          </a:p>
        </p:txBody>
      </p:sp>
      <p:sp>
        <p:nvSpPr>
          <p:cNvPr id="13" name="Shape 11"/>
          <p:cNvSpPr/>
          <p:nvPr/>
        </p:nvSpPr>
        <p:spPr>
          <a:xfrm>
            <a:off x="3584448" y="2487168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F7EFE1"/>
          </a:solidFill>
          <a:ln w="15240">
            <a:solidFill>
              <a:srgbClr val="C89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0752" y="2615184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离阻力太近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30752" y="2907792"/>
            <a:ext cx="2313432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455" dirty="0">
                <a:solidFill>
                  <a:srgbClr val="5A6670"/>
                </a:solidFill>
              </a:rPr>
              <a:t>旗形出现在前高、等距目标、楔形顶点或明显阻力位下方。</a:t>
            </a:r>
            <a:endParaRPr lang="en-US" sz="1455" dirty="0"/>
          </a:p>
        </p:txBody>
      </p:sp>
      <p:sp>
        <p:nvSpPr>
          <p:cNvPr id="16" name="Shape 14"/>
          <p:cNvSpPr/>
          <p:nvPr/>
        </p:nvSpPr>
        <p:spPr>
          <a:xfrm>
            <a:off x="6455664" y="2487168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E8F0E8"/>
          </a:solidFill>
          <a:ln w="15240">
            <a:solidFill>
              <a:srgbClr val="5E8B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2615184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回调已经长成区间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01968" y="2907792"/>
            <a:ext cx="2313432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455" dirty="0">
                <a:solidFill>
                  <a:srgbClr val="5A6670"/>
                </a:solidFill>
              </a:rPr>
              <a:t>原本像回调的旗形，拖成 10 到 20 根左右的横向交易区间。</a:t>
            </a:r>
            <a:endParaRPr lang="en-US" sz="1455" dirty="0"/>
          </a:p>
        </p:txBody>
      </p:sp>
      <p:sp>
        <p:nvSpPr>
          <p:cNvPr id="19" name="Shape 17"/>
          <p:cNvSpPr/>
          <p:nvPr/>
        </p:nvSpPr>
        <p:spPr>
          <a:xfrm>
            <a:off x="9326880" y="2487168"/>
            <a:ext cx="2148840" cy="1508760"/>
          </a:xfrm>
          <a:prstGeom prst="roundRect">
            <a:avLst>
              <a:gd name="adj" fmla="val 3636"/>
            </a:avLst>
          </a:prstGeom>
          <a:solidFill>
            <a:srgbClr val="E2ECEC"/>
          </a:solidFill>
          <a:ln w="15240">
            <a:solidFill>
              <a:srgbClr val="2F7A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73184" y="2615184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突破后还要看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473184" y="2907792"/>
            <a:ext cx="1856232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395" dirty="0">
                <a:solidFill>
                  <a:srgbClr val="5A6670"/>
                </a:solidFill>
              </a:rPr>
              <a:t>有没有真正创新高；有没有立刻失去动能；有没有回到区间。</a:t>
            </a:r>
            <a:endParaRPr lang="en-US" sz="1395" dirty="0"/>
          </a:p>
        </p:txBody>
      </p:sp>
      <p:sp>
        <p:nvSpPr>
          <p:cNvPr id="22" name="Shape 20"/>
          <p:cNvSpPr/>
          <p:nvPr/>
        </p:nvSpPr>
        <p:spPr>
          <a:xfrm>
            <a:off x="713232" y="4343400"/>
            <a:ext cx="6537960" cy="1298448"/>
          </a:xfrm>
          <a:prstGeom prst="roundRect">
            <a:avLst>
              <a:gd name="adj" fmla="val 4225"/>
            </a:avLst>
          </a:prstGeom>
          <a:solidFill>
            <a:srgbClr val="202D36"/>
          </a:solidFill>
          <a:ln w="15240">
            <a:solidFill>
              <a:srgbClr val="202D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4471416"/>
            <a:ext cx="6245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交易员动作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59536" y="4764024"/>
            <a:ext cx="6245352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483" dirty="0">
                <a:solidFill>
                  <a:srgbClr val="F1F4F5"/>
                </a:solidFill>
              </a:rPr>
              <a:t>顺势多头在这种位置要更快止盈；一旦向上突破失败，就要准备寻找更低高点、双顶更低高点、跌回区间下沿等反转卖点。</a:t>
            </a:r>
            <a:endParaRPr lang="en-US" sz="1483" dirty="0"/>
          </a:p>
        </p:txBody>
      </p:sp>
      <p:sp>
        <p:nvSpPr>
          <p:cNvPr id="25" name="Shape 23"/>
          <p:cNvSpPr/>
          <p:nvPr/>
        </p:nvSpPr>
        <p:spPr>
          <a:xfrm>
            <a:off x="7498080" y="4343400"/>
            <a:ext cx="3977640" cy="1298448"/>
          </a:xfrm>
          <a:prstGeom prst="roundRect">
            <a:avLst>
              <a:gd name="adj" fmla="val 4225"/>
            </a:avLst>
          </a:prstGeom>
          <a:solidFill>
            <a:srgbClr val="F6F1E8"/>
          </a:solidFill>
          <a:ln w="15240">
            <a:solidFill>
              <a:srgbClr val="A63D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44384" y="4471416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一句提醒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44384" y="4764024"/>
            <a:ext cx="3685032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41" dirty="0">
                <a:solidFill>
                  <a:srgbClr val="1F2B33"/>
                </a:solidFill>
              </a:rPr>
              <a:t>多头趋势总会在阻力结束。末端的水平旗形，往往不是继续加速，而是在问：价格是不是已经太高了？</a:t>
            </a:r>
            <a:endParaRPr lang="en-US" sz="124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7"/>
          </a:solidFill>
          <a:ln w="1270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2F7A78"/>
          </a:solidFill>
          <a:ln w="12700">
            <a:solidFill>
              <a:srgbClr val="2F7A7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空头末端 / 最终空头旗形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38560" y="914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阿布课程语音转文字 / 23A 旗形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6583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空头末端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最终空头旗形：最后一跌经常出现在支撑附近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58368" y="1664208"/>
            <a:ext cx="694944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23" dirty="0">
                <a:solidFill>
                  <a:srgbClr val="5A6670"/>
                </a:solidFill>
              </a:rPr>
              <a:t>当空头趋势已经抛售很久、反弹仍然压不出新低时，旗形会从延续结构变成衰竭结构。</a:t>
            </a:r>
            <a:endParaRPr lang="en-US" sz="1423" dirty="0"/>
          </a:p>
        </p:txBody>
      </p:sp>
      <p:sp>
        <p:nvSpPr>
          <p:cNvPr id="10" name="Shape 8"/>
          <p:cNvSpPr/>
          <p:nvPr/>
        </p:nvSpPr>
        <p:spPr>
          <a:xfrm>
            <a:off x="713232" y="2487168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E6F0EF"/>
          </a:solidFill>
          <a:ln w="15240">
            <a:solidFill>
              <a:srgbClr val="2F7A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615184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支撑就在脚下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9536" y="2907792"/>
            <a:ext cx="2313432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491" dirty="0">
                <a:solidFill>
                  <a:srgbClr val="5A6670"/>
                </a:solidFill>
              </a:rPr>
              <a:t>空头旗形贴着通道底、等距目标或明显支撑区域出现。</a:t>
            </a:r>
            <a:endParaRPr lang="en-US" sz="1491" dirty="0"/>
          </a:p>
        </p:txBody>
      </p:sp>
      <p:sp>
        <p:nvSpPr>
          <p:cNvPr id="13" name="Shape 11"/>
          <p:cNvSpPr/>
          <p:nvPr/>
        </p:nvSpPr>
        <p:spPr>
          <a:xfrm>
            <a:off x="3584448" y="2487168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EAF2E5"/>
          </a:solidFill>
          <a:ln w="15240">
            <a:solidFill>
              <a:srgbClr val="5E8B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0752" y="2615184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卖盘已经疲劳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30752" y="2907792"/>
            <a:ext cx="2313432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455" dirty="0">
                <a:solidFill>
                  <a:srgbClr val="5A6670"/>
                </a:solidFill>
              </a:rPr>
              <a:t>抛售高潮、连续大阴线、几乎没有回调，说明空头可能先要获利了结。</a:t>
            </a:r>
            <a:endParaRPr lang="en-US" sz="1455" dirty="0"/>
          </a:p>
        </p:txBody>
      </p:sp>
      <p:sp>
        <p:nvSpPr>
          <p:cNvPr id="16" name="Shape 14"/>
          <p:cNvSpPr/>
          <p:nvPr/>
        </p:nvSpPr>
        <p:spPr>
          <a:xfrm>
            <a:off x="6455664" y="2487168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F4EDE2"/>
          </a:solidFill>
          <a:ln w="15240">
            <a:solidFill>
              <a:srgbClr val="C89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2615184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反弹像区间而非新趋势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01968" y="2907792"/>
            <a:ext cx="2313432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455" dirty="0">
                <a:solidFill>
                  <a:srgbClr val="5A6670"/>
                </a:solidFill>
              </a:rPr>
              <a:t>低2、双顶空头旗形、上倾楔形，都是“反弹仍像旗形”的常见外观。</a:t>
            </a:r>
            <a:endParaRPr lang="en-US" sz="1455" dirty="0"/>
          </a:p>
        </p:txBody>
      </p:sp>
      <p:sp>
        <p:nvSpPr>
          <p:cNvPr id="19" name="Shape 17"/>
          <p:cNvSpPr/>
          <p:nvPr/>
        </p:nvSpPr>
        <p:spPr>
          <a:xfrm>
            <a:off x="9326880" y="2487168"/>
            <a:ext cx="2148840" cy="1508760"/>
          </a:xfrm>
          <a:prstGeom prst="roundRect">
            <a:avLst>
              <a:gd name="adj" fmla="val 3636"/>
            </a:avLst>
          </a:prstGeom>
          <a:solidFill>
            <a:srgbClr val="F6E8E7"/>
          </a:solidFill>
          <a:ln w="15240">
            <a:solidFill>
              <a:srgbClr val="A63D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73184" y="2615184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关键不是跌破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473184" y="2907792"/>
            <a:ext cx="1856232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306" dirty="0">
                <a:solidFill>
                  <a:srgbClr val="5A6670"/>
                </a:solidFill>
              </a:rPr>
              <a:t>关键在于跌破后能否真正创新低；若不能，失败突破会很快把多头拉回来。</a:t>
            </a:r>
            <a:endParaRPr lang="en-US" sz="1306" dirty="0"/>
          </a:p>
        </p:txBody>
      </p:sp>
      <p:sp>
        <p:nvSpPr>
          <p:cNvPr id="22" name="Shape 20"/>
          <p:cNvSpPr/>
          <p:nvPr/>
        </p:nvSpPr>
        <p:spPr>
          <a:xfrm>
            <a:off x="713232" y="4343400"/>
            <a:ext cx="6537960" cy="1298448"/>
          </a:xfrm>
          <a:prstGeom prst="roundRect">
            <a:avLst>
              <a:gd name="adj" fmla="val 4225"/>
            </a:avLst>
          </a:prstGeom>
          <a:solidFill>
            <a:srgbClr val="1F3C4A"/>
          </a:solidFill>
          <a:ln w="15240">
            <a:solidFill>
              <a:srgbClr val="1F3C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4471416"/>
            <a:ext cx="6245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交易员动作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59536" y="4764024"/>
            <a:ext cx="6245352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484" dirty="0">
                <a:solidFill>
                  <a:srgbClr val="F1F5F7"/>
                </a:solidFill>
              </a:rPr>
              <a:t>在空头趋势末端，第一次向上反转常常仍是次要的，但第二次尝试、微双底、楔形底和失败突破后的强力上拉，才是真正值得准备的多头机会。</a:t>
            </a:r>
            <a:endParaRPr lang="en-US" sz="1484" dirty="0"/>
          </a:p>
        </p:txBody>
      </p:sp>
      <p:sp>
        <p:nvSpPr>
          <p:cNvPr id="25" name="Shape 23"/>
          <p:cNvSpPr/>
          <p:nvPr/>
        </p:nvSpPr>
        <p:spPr>
          <a:xfrm>
            <a:off x="7498080" y="4343400"/>
            <a:ext cx="3977640" cy="1298448"/>
          </a:xfrm>
          <a:prstGeom prst="roundRect">
            <a:avLst>
              <a:gd name="adj" fmla="val 4225"/>
            </a:avLst>
          </a:prstGeom>
          <a:solidFill>
            <a:srgbClr val="F6F1E8"/>
          </a:solidFill>
          <a:ln w="15240">
            <a:solidFill>
              <a:srgbClr val="2F7A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44384" y="4471416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一句提醒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44384" y="4764024"/>
            <a:ext cx="3685032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484" dirty="0">
                <a:solidFill>
                  <a:srgbClr val="1F2B33"/>
                </a:solidFill>
              </a:rPr>
              <a:t>每个空头趋势都在支撑结束。末端旗形的向下突破，很可能只是最后一脚。</a:t>
            </a:r>
            <a:endParaRPr lang="en-US" sz="14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7"/>
          </a:solidFill>
          <a:ln w="1270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A63D40"/>
          </a:solidFill>
          <a:ln w="12700">
            <a:solidFill>
              <a:srgbClr val="A63D4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失败突破 / 交易路径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38560" y="914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阿布课程语音转文字 / 23A 旗形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6583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3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交易路径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失败突破的典型路径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58368" y="1664208"/>
            <a:ext cx="694944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23" dirty="0">
                <a:solidFill>
                  <a:srgbClr val="5A6670"/>
                </a:solidFill>
              </a:rPr>
              <a:t>这节课最重要的观察顺序：不是先问“有没有突破”，而是先问“这个突破有没有资格失败”。</a:t>
            </a:r>
            <a:endParaRPr lang="en-US" sz="1423" dirty="0"/>
          </a:p>
        </p:txBody>
      </p:sp>
      <p:sp>
        <p:nvSpPr>
          <p:cNvPr id="10" name="Shape 8"/>
          <p:cNvSpPr/>
          <p:nvPr/>
        </p:nvSpPr>
        <p:spPr>
          <a:xfrm>
            <a:off x="749808" y="2697480"/>
            <a:ext cx="2011680" cy="1783080"/>
          </a:xfrm>
          <a:prstGeom prst="roundRect">
            <a:avLst>
              <a:gd name="adj" fmla="val 2564"/>
            </a:avLst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77063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2971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老趋势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" y="3300984"/>
            <a:ext cx="1828800" cy="1033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95" dirty="0">
                <a:solidFill>
                  <a:srgbClr val="FFFFFF"/>
                </a:solidFill>
              </a:rPr>
              <a:t>单边行情已经走很久，回调稀少。</a:t>
            </a:r>
            <a:endParaRPr lang="en-US" sz="1295" dirty="0"/>
          </a:p>
        </p:txBody>
      </p:sp>
      <p:sp>
        <p:nvSpPr>
          <p:cNvPr id="14" name="Text 12"/>
          <p:cNvSpPr/>
          <p:nvPr/>
        </p:nvSpPr>
        <p:spPr>
          <a:xfrm>
            <a:off x="2761488" y="3502152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62656" y="2697480"/>
            <a:ext cx="2011680" cy="1783080"/>
          </a:xfrm>
          <a:prstGeom prst="roundRect">
            <a:avLst>
              <a:gd name="adj" fmla="val 2564"/>
            </a:avLst>
          </a:prstGeom>
          <a:solidFill>
            <a:srgbClr val="2F7A78"/>
          </a:solidFill>
          <a:ln w="12700">
            <a:solidFill>
              <a:srgbClr val="2F7A7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54096" y="277063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54096" y="2971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旗形成区间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054096" y="3300984"/>
            <a:ext cx="1828800" cy="1033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95" dirty="0">
                <a:solidFill>
                  <a:srgbClr val="FFFFFF"/>
                </a:solidFill>
              </a:rPr>
              <a:t>回调延长成横向共识区，市场开始寻找公平价格。</a:t>
            </a:r>
            <a:endParaRPr lang="en-US" sz="1295" dirty="0"/>
          </a:p>
        </p:txBody>
      </p:sp>
      <p:sp>
        <p:nvSpPr>
          <p:cNvPr id="19" name="Text 17"/>
          <p:cNvSpPr/>
          <p:nvPr/>
        </p:nvSpPr>
        <p:spPr>
          <a:xfrm>
            <a:off x="4974336" y="3502152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75504" y="2697480"/>
            <a:ext cx="2011680" cy="1783080"/>
          </a:xfrm>
          <a:prstGeom prst="roundRect">
            <a:avLst>
              <a:gd name="adj" fmla="val 2564"/>
            </a:avLst>
          </a:prstGeom>
          <a:solidFill>
            <a:srgbClr val="C89B2A"/>
          </a:solidFill>
          <a:ln w="12700">
            <a:solidFill>
              <a:srgbClr val="C89B2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66944" y="277063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66944" y="2971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末端突破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66944" y="3300984"/>
            <a:ext cx="1828800" cy="1033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95" dirty="0">
                <a:solidFill>
                  <a:srgbClr val="FFFFFF"/>
                </a:solidFill>
              </a:rPr>
              <a:t>价格冲出区间，表面像延续，实质更像最后冲刺。</a:t>
            </a:r>
            <a:endParaRPr lang="en-US" sz="1295" dirty="0"/>
          </a:p>
        </p:txBody>
      </p:sp>
      <p:sp>
        <p:nvSpPr>
          <p:cNvPr id="24" name="Text 22"/>
          <p:cNvSpPr/>
          <p:nvPr/>
        </p:nvSpPr>
        <p:spPr>
          <a:xfrm>
            <a:off x="7187184" y="3502152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88352" y="2697480"/>
            <a:ext cx="2011680" cy="1783080"/>
          </a:xfrm>
          <a:prstGeom prst="roundRect">
            <a:avLst>
              <a:gd name="adj" fmla="val 2564"/>
            </a:avLst>
          </a:prstGeom>
          <a:solidFill>
            <a:srgbClr val="A63D40"/>
          </a:solidFill>
          <a:ln w="12700">
            <a:solidFill>
              <a:srgbClr val="A63D4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9792" y="277063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79792" y="2971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没有新极端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79792" y="3300984"/>
            <a:ext cx="1828800" cy="1033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95" dirty="0">
                <a:solidFill>
                  <a:srgbClr val="FFFFFF"/>
                </a:solidFill>
              </a:rPr>
              <a:t>突破没有真正创新高或创新低，或者立刻回到区间。</a:t>
            </a:r>
            <a:endParaRPr lang="en-US" sz="1295" dirty="0"/>
          </a:p>
        </p:txBody>
      </p:sp>
      <p:sp>
        <p:nvSpPr>
          <p:cNvPr id="29" name="Text 27"/>
          <p:cNvSpPr/>
          <p:nvPr/>
        </p:nvSpPr>
        <p:spPr>
          <a:xfrm>
            <a:off x="9400032" y="3502152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601200" y="2697480"/>
            <a:ext cx="2011680" cy="1783080"/>
          </a:xfrm>
          <a:prstGeom prst="roundRect">
            <a:avLst>
              <a:gd name="adj" fmla="val 2564"/>
            </a:avLst>
          </a:prstGeom>
          <a:solidFill>
            <a:srgbClr val="5E8B63"/>
          </a:solidFill>
          <a:ln w="12700">
            <a:solidFill>
              <a:srgbClr val="5E8B6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277063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92640" y="2971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反转或震荡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92640" y="3300984"/>
            <a:ext cx="1828800" cy="1033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95" dirty="0">
                <a:solidFill>
                  <a:srgbClr val="FFFFFF"/>
                </a:solidFill>
              </a:rPr>
              <a:t>价格回归共识区，再展开反转或进入更大级别交易区间。</a:t>
            </a:r>
            <a:endParaRPr lang="en-US" sz="1295" dirty="0"/>
          </a:p>
        </p:txBody>
      </p:sp>
      <p:sp>
        <p:nvSpPr>
          <p:cNvPr id="34" name="Shape 32"/>
          <p:cNvSpPr/>
          <p:nvPr/>
        </p:nvSpPr>
        <p:spPr>
          <a:xfrm>
            <a:off x="749808" y="4983480"/>
            <a:ext cx="10972800" cy="841248"/>
          </a:xfrm>
          <a:prstGeom prst="roundRect">
            <a:avLst>
              <a:gd name="adj" fmla="val 6522"/>
            </a:avLst>
          </a:prstGeom>
          <a:solidFill>
            <a:srgbClr val="FFF9F1"/>
          </a:solidFill>
          <a:ln w="15240">
            <a:solidFill>
              <a:srgbClr val="E7DC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5111496"/>
            <a:ext cx="10680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文中反复强调的细节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96112" y="5404104"/>
            <a:ext cx="10680192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B33"/>
                </a:solidFill>
              </a:rPr>
              <a:t>“没有先到达新高/新低就反转”本身就是信息。它意味着突破不是新的趋势开始，而是趋势末端动能已经衰竭。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7"/>
          </a:solidFill>
          <a:ln w="1270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C89B2A"/>
          </a:solidFill>
          <a:ln w="12700">
            <a:solidFill>
              <a:srgbClr val="C89B2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结构标签 / 文中高频说法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38560" y="914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阿布课程语音转文字 / 23A 旗形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6583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结构标签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文中高频结构标签，不是名词堆砌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58368" y="1664208"/>
            <a:ext cx="694944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23" dirty="0">
                <a:solidFill>
                  <a:srgbClr val="5A6670"/>
                </a:solidFill>
              </a:rPr>
              <a:t>三角形、I-I-I、双顶双底旗形、楔形和交易区间，都是在帮交易者判断：现在到底是在延续，还是在衰竭。</a:t>
            </a:r>
            <a:endParaRPr lang="en-US" sz="1423" dirty="0"/>
          </a:p>
        </p:txBody>
      </p:sp>
      <p:sp>
        <p:nvSpPr>
          <p:cNvPr id="10" name="Shape 8"/>
          <p:cNvSpPr/>
          <p:nvPr/>
        </p:nvSpPr>
        <p:spPr>
          <a:xfrm>
            <a:off x="749808" y="2377440"/>
            <a:ext cx="10972800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5240">
            <a:solidFill>
              <a:srgbClr val="D8D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2542032"/>
            <a:ext cx="2057400" cy="420624"/>
          </a:xfrm>
          <a:prstGeom prst="rect">
            <a:avLst/>
          </a:prstGeom>
          <a:solidFill>
            <a:srgbClr val="1F2B33"/>
          </a:solidFill>
          <a:ln w="12700">
            <a:solidFill>
              <a:srgbClr val="1F2B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2670048"/>
            <a:ext cx="1911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文中说法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54680" y="2542032"/>
            <a:ext cx="3566160" cy="420624"/>
          </a:xfrm>
          <a:prstGeom prst="rect">
            <a:avLst/>
          </a:prstGeom>
          <a:solidFill>
            <a:srgbClr val="1F2B33"/>
          </a:solidFill>
          <a:ln w="12700">
            <a:solidFill>
              <a:srgbClr val="1F2B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2670048"/>
            <a:ext cx="34198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结构语义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31152" y="2542032"/>
            <a:ext cx="4526280" cy="420624"/>
          </a:xfrm>
          <a:prstGeom prst="rect">
            <a:avLst/>
          </a:prstGeom>
          <a:solidFill>
            <a:srgbClr val="1F2B33"/>
          </a:solidFill>
          <a:ln w="12700">
            <a:solidFill>
              <a:srgbClr val="1F2B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04304" y="2670048"/>
            <a:ext cx="4379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交易提醒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6112" y="3054096"/>
            <a:ext cx="10561320" cy="512064"/>
          </a:xfrm>
          <a:prstGeom prst="rect">
            <a:avLst/>
          </a:prstGeom>
          <a:solidFill>
            <a:srgbClr val="FFF9F1"/>
          </a:solidFill>
          <a:ln w="6350">
            <a:solidFill>
              <a:srgbClr val="D8DE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3127248"/>
            <a:ext cx="191109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B33"/>
                </a:solidFill>
              </a:rPr>
              <a:t>小三角形 / I-I-I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3227832" y="3127248"/>
            <a:ext cx="34198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B33"/>
                </a:solidFill>
              </a:rPr>
              <a:t>收缩型旗形，常出现在趋势末端。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7004304" y="3127248"/>
            <a:ext cx="437997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B33"/>
                </a:solidFill>
              </a:rPr>
              <a:t>首个突破不一定可靠，要看会不会很快回归区间。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896112" y="3602736"/>
            <a:ext cx="10561320" cy="512064"/>
          </a:xfrm>
          <a:prstGeom prst="rect">
            <a:avLst/>
          </a:prstGeom>
          <a:solidFill>
            <a:srgbClr val="FAFBFC"/>
          </a:solidFill>
          <a:ln w="6350">
            <a:solidFill>
              <a:srgbClr val="D8DE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3675888"/>
            <a:ext cx="191109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B33"/>
                </a:solidFill>
              </a:rPr>
              <a:t>双顶 / 双底旗形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3227832" y="3675888"/>
            <a:ext cx="34198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B33"/>
                </a:solidFill>
              </a:rPr>
              <a:t>二次测试前高前低，说明延续在减弱。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7004304" y="3675888"/>
            <a:ext cx="437997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B33"/>
                </a:solidFill>
              </a:rPr>
              <a:t>更低高点 / 更高低点比名词本身更重要。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896112" y="4151376"/>
            <a:ext cx="10561320" cy="512064"/>
          </a:xfrm>
          <a:prstGeom prst="rect">
            <a:avLst/>
          </a:prstGeom>
          <a:solidFill>
            <a:srgbClr val="FFF9F1"/>
          </a:solidFill>
          <a:ln w="6350">
            <a:solidFill>
              <a:srgbClr val="D8DE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4224528"/>
            <a:ext cx="191109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B33"/>
                </a:solidFill>
              </a:rPr>
              <a:t>楔形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3227832" y="4224528"/>
            <a:ext cx="34198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B33"/>
                </a:solidFill>
              </a:rPr>
              <a:t>三推衰竭，常把趋势推向主要反转。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7004304" y="4224528"/>
            <a:ext cx="437997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B33"/>
                </a:solidFill>
              </a:rPr>
              <a:t>越接近阻力或支撑，越要警惕失败突破。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896112" y="4700016"/>
            <a:ext cx="10561320" cy="512064"/>
          </a:xfrm>
          <a:prstGeom prst="rect">
            <a:avLst/>
          </a:prstGeom>
          <a:solidFill>
            <a:srgbClr val="FAFBFC"/>
          </a:solidFill>
          <a:ln w="6350">
            <a:solidFill>
              <a:srgbClr val="D8DE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" y="4773168"/>
            <a:ext cx="191109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B33"/>
                </a:solidFill>
              </a:rPr>
              <a:t>水平交易区间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3227832" y="4773168"/>
            <a:ext cx="34198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B33"/>
                </a:solidFill>
              </a:rPr>
              <a:t>多空都把这里当公平价格。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7004304" y="4773168"/>
            <a:ext cx="437997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B33"/>
                </a:solidFill>
              </a:rPr>
              <a:t>脱离区间后，很多时候会很快被吸回。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896112" y="5248656"/>
            <a:ext cx="10561320" cy="512064"/>
          </a:xfrm>
          <a:prstGeom prst="rect">
            <a:avLst/>
          </a:prstGeom>
          <a:solidFill>
            <a:srgbClr val="FFF9F1"/>
          </a:solidFill>
          <a:ln w="6350">
            <a:solidFill>
              <a:srgbClr val="D8DE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9264" y="5321808"/>
            <a:ext cx="191109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B33"/>
                </a:solidFill>
              </a:rPr>
              <a:t>等距运动目标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3227832" y="5321808"/>
            <a:ext cx="341985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B33"/>
                </a:solidFill>
              </a:rPr>
              <a:t>市场会被目标位吸引，也会在目标位犹豫。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7004304" y="5321808"/>
            <a:ext cx="4379976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B33"/>
                </a:solidFill>
              </a:rPr>
              <a:t>一到目标附近，就先问“还能不能继续”。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7"/>
          </a:solidFill>
          <a:ln w="1270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5E8B63"/>
          </a:solidFill>
          <a:ln w="12700">
            <a:solidFill>
              <a:srgbClr val="5E8B6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交易员行动清单 / 课后带走什么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38560" y="914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阿布课程语音转文字 / 23A 旗形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6583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8B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行动清单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89611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看见旗形之后，不要急着问“做不做”，先问“它是不是最后一个旗形”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58368" y="1664208"/>
            <a:ext cx="694944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23" dirty="0">
                <a:solidFill>
                  <a:srgbClr val="5A6670"/>
                </a:solidFill>
              </a:rPr>
              <a:t>这节课真正训练的，是交易员切换节奏的能力：从顺势延续，切到快速止盈，再切到等待失败突破与反转。</a:t>
            </a:r>
            <a:endParaRPr lang="en-US" sz="1423" dirty="0"/>
          </a:p>
        </p:txBody>
      </p:sp>
      <p:sp>
        <p:nvSpPr>
          <p:cNvPr id="10" name="Shape 8"/>
          <p:cNvSpPr/>
          <p:nvPr/>
        </p:nvSpPr>
        <p:spPr>
          <a:xfrm>
            <a:off x="749808" y="2487168"/>
            <a:ext cx="5212080" cy="3429000"/>
          </a:xfrm>
          <a:prstGeom prst="roundRect">
            <a:avLst>
              <a:gd name="adj" fmla="val 1600"/>
            </a:avLst>
          </a:prstGeom>
          <a:solidFill>
            <a:srgbClr val="FFF9F1"/>
          </a:solidFill>
          <a:ln w="15240">
            <a:solidFill>
              <a:srgbClr val="E7DC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615184"/>
            <a:ext cx="4919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课后行动清单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2907792"/>
            <a:ext cx="4919472" cy="28620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497" dirty="0">
                <a:solidFill>
                  <a:srgbClr val="1F2B33"/>
                </a:solidFill>
              </a:rPr>
              <a:t>1. 每次见到旗形，先判断趋势是否已经走老。</a:t>
            </a:r>
            <a:endParaRPr lang="en-US" sz="1497" dirty="0"/>
          </a:p>
          <a:p>
            <a:pPr indent="0" marL="0">
              <a:buNone/>
            </a:pPr>
            <a:r>
              <a:rPr lang="en-US" sz="1497" dirty="0">
                <a:solidFill>
                  <a:srgbClr val="1F2B33"/>
                </a:solidFill>
              </a:rPr>
              <a:t>2. 旗形一旦拖成 10 到 20 根左右，就要从“回调”改口成“区间”。</a:t>
            </a:r>
            <a:endParaRPr lang="en-US" sz="1497" dirty="0"/>
          </a:p>
          <a:p>
            <a:pPr indent="0" marL="0">
              <a:buNone/>
            </a:pPr>
            <a:r>
              <a:rPr lang="en-US" sz="1497" dirty="0">
                <a:solidFill>
                  <a:srgbClr val="1F2B33"/>
                </a:solidFill>
              </a:rPr>
              <a:t>3. 看到阻力、支撑和等距目标时，不再无脑追突破。</a:t>
            </a:r>
            <a:endParaRPr lang="en-US" sz="1497" dirty="0"/>
          </a:p>
          <a:p>
            <a:pPr indent="0" marL="0">
              <a:buNone/>
            </a:pPr>
            <a:r>
              <a:rPr lang="en-US" sz="1497" dirty="0">
                <a:solidFill>
                  <a:srgbClr val="1F2B33"/>
                </a:solidFill>
              </a:rPr>
              <a:t>4. 记录“突破有没有真正创新高/低”。</a:t>
            </a:r>
            <a:endParaRPr lang="en-US" sz="1497" dirty="0"/>
          </a:p>
          <a:p>
            <a:pPr indent="0" marL="0">
              <a:buNone/>
            </a:pPr>
            <a:r>
              <a:rPr lang="en-US" sz="1497" dirty="0">
                <a:solidFill>
                  <a:srgbClr val="1F2B33"/>
                </a:solidFill>
              </a:rPr>
              <a:t>5. 对顺势仓位更快止盈，对失败突破准备反向计划。</a:t>
            </a:r>
            <a:endParaRPr lang="en-US" sz="1497" dirty="0"/>
          </a:p>
        </p:txBody>
      </p:sp>
      <p:sp>
        <p:nvSpPr>
          <p:cNvPr id="13" name="Shape 11"/>
          <p:cNvSpPr/>
          <p:nvPr/>
        </p:nvSpPr>
        <p:spPr>
          <a:xfrm>
            <a:off x="6291072" y="2670048"/>
            <a:ext cx="4663440" cy="2880360"/>
          </a:xfrm>
          <a:prstGeom prst="roundRect">
            <a:avLst>
              <a:gd name="adj" fmla="val 2540"/>
            </a:avLst>
          </a:prstGeom>
          <a:solidFill>
            <a:srgbClr val="24313A"/>
          </a:solidFill>
          <a:ln w="12700">
            <a:solidFill>
              <a:srgbClr val="24313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8895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最后一句总结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65392" y="3255264"/>
            <a:ext cx="406908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41" dirty="0">
                <a:solidFill>
                  <a:srgbClr val="FFFFFF"/>
                </a:solidFill>
              </a:rPr>
              <a:t>最终旗形不是一个新名词，而是一种交易者视角：</a:t>
            </a:r>
            <a:endParaRPr lang="en-US" sz="1441" dirty="0"/>
          </a:p>
          <a:p>
            <a:pPr indent="0" marL="0">
              <a:buNone/>
            </a:pPr>
            <a:endParaRPr lang="en-US" sz="1441" dirty="0"/>
          </a:p>
          <a:p>
            <a:pPr indent="0" marL="0">
              <a:buNone/>
            </a:pPr>
            <a:r>
              <a:rPr lang="en-US" sz="1441" dirty="0">
                <a:solidFill>
                  <a:srgbClr val="FFFFFF"/>
                </a:solidFill>
              </a:rPr>
              <a:t>当趋势已经很成熟，旗形就不再只是延续的跳板，而更可能是突破失败的起点。</a:t>
            </a:r>
            <a:endParaRPr lang="en-US" sz="1441" dirty="0"/>
          </a:p>
        </p:txBody>
      </p:sp>
      <p:sp>
        <p:nvSpPr>
          <p:cNvPr id="16" name="Shape 14"/>
          <p:cNvSpPr/>
          <p:nvPr/>
        </p:nvSpPr>
        <p:spPr>
          <a:xfrm>
            <a:off x="6565392" y="4983480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B85C38"/>
          </a:solidFill>
          <a:ln w="12700">
            <a:solidFill>
              <a:srgbClr val="B85C3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38544" y="5029200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先看位置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0" y="498348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2F7A78"/>
          </a:solidFill>
          <a:ln w="12700">
            <a:solidFill>
              <a:srgbClr val="2F7A7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5552" y="5029200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再看区间化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281160" y="498348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A63D40"/>
          </a:solidFill>
          <a:ln w="12700">
            <a:solidFill>
              <a:srgbClr val="A63D4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54312" y="5029200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最后看失败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pa-pattern-quant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23A 旗形：最终旗形与失败突破</dc:title>
  <dc:subject>阿布课程 23A 旗形</dc:subject>
  <dc:creator>OpenAI Codex</dc:creator>
  <cp:lastModifiedBy>OpenAI Codex</cp:lastModifiedBy>
  <cp:revision>1</cp:revision>
  <dcterms:created xsi:type="dcterms:W3CDTF">2026-03-16T08:19:13Z</dcterms:created>
  <dcterms:modified xsi:type="dcterms:W3CDTF">2026-03-16T08:19:13Z</dcterms:modified>
</cp:coreProperties>
</file>